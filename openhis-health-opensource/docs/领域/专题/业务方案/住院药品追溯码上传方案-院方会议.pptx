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0" y="0"/>
            <a:ext cx="109728" cy="6858000"/>
          </a:xfrm>
          <a:prstGeom prst="rect">
            <a:avLst/>
          </a:prstGeom>
          <a:solidFill>
            <a:srgbClr val="C45C26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64608" y="0"/>
            <a:ext cx="7324344" cy="6858000"/>
          </a:xfrm>
          <a:prstGeom prst="rect">
            <a:avLst/>
          </a:prstGeom>
          <a:solidFill>
            <a:srgbClr val="F4F7F6"/>
          </a:solidFill>
          <a:ln>
            <a:solidFill>
              <a:srgbClr val="F4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3931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住院药品
追溯码方案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8E6E6"/>
                </a:solidFill>
                <a:latin typeface="Microsoft YaHei"/>
                <a:ea typeface="Microsoft YaHei"/>
              </a:rPr>
              <a:t>采集 · 绑定 · 退药清码
出院统一上传医保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103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B2E"/>
                </a:solidFill>
                <a:latin typeface="Microsoft YaHei"/>
                <a:ea typeface="Microsoft YaHei"/>
              </a:rPr>
              <a:t>院方业务讨论稿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74320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F74"/>
                </a:solidFill>
                <a:latin typeface="Microsoft YaHei"/>
                <a:ea typeface="Microsoft YaHei"/>
              </a:rPr>
              <a:t>供护理部 · 药剂科 · 医保办 · 信息科联合评审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5A6F74"/>
                </a:solidFill>
                <a:latin typeface="Microsoft YaHei"/>
                <a:ea typeface="Microsoft YaHei"/>
              </a:rPr>
              <a:t>涵盖五种落地路径：谁扫、何时扫、怎么扫、利弊与推荐组合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4297680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3D4F5F"/>
          </a:solidFill>
          <a:ln>
            <a:solidFill>
              <a:srgbClr val="3D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方案1 护士摆药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4681728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3D4F5F"/>
          </a:solidFill>
          <a:ln>
            <a:solidFill>
              <a:srgbClr val="3D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方案2 药房发药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5065776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3D4F5F"/>
          </a:solidFill>
          <a:ln>
            <a:solidFill>
              <a:srgbClr val="3D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方案3 双扫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5449824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3D4F5F"/>
          </a:solidFill>
          <a:ln>
            <a:solidFill>
              <a:srgbClr val="3D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方案4 瓶贴闭环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5833872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085456"/>
          </a:solidFill>
          <a:ln>
            <a:solidFill>
              <a:srgbClr val="085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方案5 分级组合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035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5C26"/>
                </a:solidFill>
                <a:latin typeface="Microsoft YaHei"/>
                <a:ea typeface="Microsoft YaHei"/>
              </a:rPr>
              <a:t>默认推荐：方案5 分级组合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solidFill>
              <a:srgbClr val="F4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45C26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会议议程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E8"/>
                </a:solidFill>
                <a:latin typeface="Microsoft YaHei"/>
                <a:ea typeface="Microsoft YaHei"/>
              </a:rPr>
              <a:t>Discussion Agenda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399032"/>
            <a:ext cx="502920" cy="502920"/>
          </a:xfrm>
          <a:prstGeom prst="ellipse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399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B2E"/>
                </a:solidFill>
                <a:latin typeface="Microsoft YaHei"/>
                <a:ea typeface="Microsoft YaHei"/>
              </a:rPr>
              <a:t>背景与目标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691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F74"/>
                </a:solidFill>
                <a:latin typeface="Microsoft YaHei"/>
                <a:ea typeface="Microsoft YaHei"/>
              </a:rPr>
              <a:t>监管要求、出院统一上传、拆零实物约束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359152"/>
            <a:ext cx="502920" cy="502920"/>
          </a:xfrm>
          <a:prstGeom prst="ellipse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359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B2E"/>
                </a:solidFill>
                <a:latin typeface="Microsoft YaHei"/>
                <a:ea typeface="Microsoft YaHei"/>
              </a:rPr>
              <a:t>五种方案速览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651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F74"/>
                </a:solidFill>
                <a:latin typeface="Microsoft YaHei"/>
                <a:ea typeface="Microsoft YaHei"/>
              </a:rPr>
              <a:t>谁扫 · 何时扫 · 一图看懂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5468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3319272"/>
            <a:ext cx="502920" cy="502920"/>
          </a:xfrm>
          <a:prstGeom prst="ellipse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192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B2E"/>
                </a:solidFill>
                <a:latin typeface="Microsoft YaHei"/>
                <a:ea typeface="Microsoft YaHei"/>
              </a:rPr>
              <a:t>分方案说明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6118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F74"/>
                </a:solidFill>
                <a:latin typeface="Microsoft YaHei"/>
                <a:ea typeface="Microsoft YaHei"/>
              </a:rPr>
              <a:t>流程配图 + 利弊（方案1～5）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1480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" y="4279392"/>
            <a:ext cx="502920" cy="502920"/>
          </a:xfrm>
          <a:prstGeom prst="ellipse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2793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B2E"/>
                </a:solidFill>
                <a:latin typeface="Microsoft YaHei"/>
                <a:ea typeface="Microsoft YaHei"/>
              </a:rPr>
              <a:t>对比与推荐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5720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F74"/>
                </a:solidFill>
                <a:latin typeface="Microsoft YaHei"/>
                <a:ea typeface="Microsoft YaHei"/>
              </a:rPr>
              <a:t>矩阵对比 · 方案5组合落地路径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5239512"/>
            <a:ext cx="502920" cy="502920"/>
          </a:xfrm>
          <a:prstGeom prst="ellipse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23951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2B2E"/>
                </a:solidFill>
                <a:latin typeface="Microsoft YaHei"/>
                <a:ea typeface="Microsoft YaHei"/>
              </a:rPr>
              <a:t>需院方拍板事项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532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F74"/>
                </a:solidFill>
                <a:latin typeface="Microsoft YaHei"/>
                <a:ea typeface="Microsoft YaHei"/>
              </a:rPr>
              <a:t>目录、闸门、退药、打印门控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住院药品追溯码采集与上传方案 · 院方讨论稿 · 内部资料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solidFill>
              <a:srgbClr val="F4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45C26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背景与共性约定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E8"/>
                </a:solidFill>
                <a:latin typeface="Microsoft YaHei"/>
                <a:ea typeface="Microsoft YaHei"/>
              </a:rPr>
              <a:t>为何要做、统一口径是什么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E6F3F3"/>
          </a:solidFill>
          <a:ln w="1270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25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85456"/>
                </a:solidFill>
                <a:latin typeface="Microsoft YaHei"/>
                <a:ea typeface="Microsoft YaHei"/>
              </a:rPr>
              <a:t>应扫尽扫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监管品种发药链路须采集追溯码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8872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E6F3F3"/>
          </a:solidFill>
          <a:ln w="1270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325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85456"/>
                </a:solidFill>
                <a:latin typeface="Microsoft YaHei"/>
                <a:ea typeface="Microsoft YaHei"/>
              </a:rPr>
              <a:t>码实相符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码与药品、批号、患者可关联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E6F3F3"/>
          </a:solidFill>
          <a:ln w="1270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325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85456"/>
                </a:solidFill>
                <a:latin typeface="Microsoft YaHei"/>
                <a:ea typeface="Microsoft YaHei"/>
              </a:rPr>
              <a:t>退药闭环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退多少清多少，避免幽灵码上传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188720"/>
            <a:ext cx="2743200" cy="1417320"/>
          </a:xfrm>
          <a:prstGeom prst="roundRect">
            <a:avLst>
              <a:gd name="adj" fmla="val 8000"/>
            </a:avLst>
          </a:prstGeom>
          <a:solidFill>
            <a:srgbClr val="E6F3F3"/>
          </a:solidFill>
          <a:ln w="1270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325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85456"/>
                </a:solidFill>
                <a:latin typeface="Microsoft YaHei"/>
                <a:ea typeface="Microsoft YaHei"/>
              </a:rPr>
              <a:t>出院统传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78308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在院只存系统，结算时统一上传医保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880360"/>
            <a:ext cx="112471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017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45C26"/>
                </a:solidFill>
                <a:latin typeface="Microsoft YaHei"/>
                <a:ea typeface="Microsoft YaHei"/>
              </a:rPr>
              <a:t>实物铁律：码在包装上，拆出的药没有码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566160"/>
            <a:ext cx="3474720" cy="2194560"/>
          </a:xfrm>
          <a:prstGeom prst="roundRect">
            <a:avLst/>
          </a:prstGeom>
          <a:solidFill>
            <a:srgbClr val="0D7377"/>
          </a:solidFill>
          <a:ln>
            <a:solidFill>
              <a:srgbClr val="085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49039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母盒 / 药瓶（唯一可扫）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" y="4206240"/>
            <a:ext cx="27432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85456"/>
                </a:solidFill>
                <a:latin typeface="Microsoft YaHei"/>
                <a:ea typeface="Microsoft YaHei"/>
              </a:rPr>
              <a:t>追溯码 ████████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29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FFFF"/>
                </a:solidFill>
                <a:latin typeface="Microsoft YaHei"/>
                <a:ea typeface="Microsoft YaHei"/>
              </a:rPr>
              <a:t>扫码永远对着包装
不是对着药杯/药袋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663440" y="4389120"/>
            <a:ext cx="914400" cy="411480"/>
          </a:xfrm>
          <a:prstGeom prst="rightArrow">
            <a:avLst/>
          </a:prstGeom>
          <a:solidFill>
            <a:srgbClr val="C45C26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852160" y="3611880"/>
            <a:ext cx="25603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5A6F74"/>
                </a:solidFill>
                <a:latin typeface="Microsoft YaHei"/>
                <a:ea typeface="Microsoft YaHei"/>
              </a:rPr>
              <a:t>李四药袋 · 无追溯码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4389120"/>
            <a:ext cx="25603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5A6F74"/>
                </a:solidFill>
                <a:latin typeface="Microsoft YaHei"/>
                <a:ea typeface="Microsoft YaHei"/>
              </a:rPr>
              <a:t>王五药袋 · 无追溯码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5166360"/>
            <a:ext cx="25603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5A6F74"/>
                </a:solidFill>
                <a:latin typeface="Microsoft YaHei"/>
                <a:ea typeface="Microsoft YaHei"/>
              </a:rPr>
              <a:t>赵六药袋 · 无追溯码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749039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2E"/>
                </a:solidFill>
                <a:latin typeface="Microsoft YaHei"/>
                <a:ea typeface="Microsoft YaHei"/>
              </a:rPr>
              <a:t>因此必须：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① 先扫母盒，再分药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② 母盒用尽前不得扔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③ 退药扫母盒或带出原码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B33A3A"/>
                </a:solidFill>
                <a:latin typeface="Microsoft YaHei"/>
                <a:ea typeface="Microsoft YaHei"/>
              </a:rPr>
              <a:t>④ 禁止扫药袋「补码」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住院药品追溯码采集与上传方案 · 院方讨论稿 · 内部资料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solidFill>
              <a:srgbClr val="F4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45C26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五种方案一览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E8"/>
                </a:solidFill>
                <a:latin typeface="Microsoft YaHei"/>
                <a:ea typeface="Microsoft YaHei"/>
              </a:rPr>
              <a:t>Who · When · How 速览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280160" cy="411480"/>
          </a:xfrm>
          <a:prstGeom prst="rect">
            <a:avLst/>
          </a:prstGeom>
          <a:solidFill>
            <a:srgbClr val="085456"/>
          </a:solidFill>
          <a:ln>
            <a:solidFill>
              <a:srgbClr val="085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1143000"/>
            <a:ext cx="2194560" cy="411480"/>
          </a:xfrm>
          <a:prstGeom prst="rect">
            <a:avLst/>
          </a:prstGeom>
          <a:solidFill>
            <a:srgbClr val="085456"/>
          </a:solidFill>
          <a:ln>
            <a:solidFill>
              <a:srgbClr val="085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名称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143000"/>
            <a:ext cx="2377440" cy="411480"/>
          </a:xfrm>
          <a:prstGeom prst="rect">
            <a:avLst/>
          </a:prstGeom>
          <a:solidFill>
            <a:srgbClr val="085456"/>
          </a:solidFill>
          <a:ln>
            <a:solidFill>
              <a:srgbClr val="085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谁扫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143000"/>
            <a:ext cx="1828800" cy="411480"/>
          </a:xfrm>
          <a:prstGeom prst="rect">
            <a:avLst/>
          </a:prstGeom>
          <a:solidFill>
            <a:srgbClr val="085456"/>
          </a:solidFill>
          <a:ln>
            <a:solidFill>
              <a:srgbClr val="085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何时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143000"/>
            <a:ext cx="3200400" cy="411480"/>
          </a:xfrm>
          <a:prstGeom prst="rect">
            <a:avLst/>
          </a:prstGeom>
          <a:solidFill>
            <a:srgbClr val="085456"/>
          </a:solidFill>
          <a:ln>
            <a:solidFill>
              <a:srgbClr val="085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怎么扫（摘要）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00200"/>
            <a:ext cx="1280160" cy="685800"/>
          </a:xfrm>
          <a:prstGeom prst="rect">
            <a:avLst/>
          </a:prstGeom>
          <a:solidFill>
            <a:srgbClr val="2B6A8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方案1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1600200"/>
            <a:ext cx="2194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护士摆药扫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1600200"/>
            <a:ext cx="23774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药房不扫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600200"/>
            <a:ext cx="1828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摆药时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600200"/>
            <a:ext cx="32004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扫盒/母盒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77440"/>
            <a:ext cx="1280160" cy="685800"/>
          </a:xfrm>
          <a:prstGeom prst="rect">
            <a:avLst/>
          </a:prstGeom>
          <a:solidFill>
            <a:srgbClr val="3D4F5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方案2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0" y="2377440"/>
            <a:ext cx="2194560" cy="685800"/>
          </a:xfrm>
          <a:prstGeom prst="rect">
            <a:avLst/>
          </a:prstGeom>
          <a:solidFill>
            <a:srgbClr val="E6F3F3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药房发药扫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377440"/>
            <a:ext cx="2377440" cy="685800"/>
          </a:xfrm>
          <a:prstGeom prst="rect">
            <a:avLst/>
          </a:prstGeom>
          <a:solidFill>
            <a:srgbClr val="E6F3F3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护士不扫追溯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377440"/>
            <a:ext cx="1828800" cy="685800"/>
          </a:xfrm>
          <a:prstGeom prst="rect">
            <a:avLst/>
          </a:prstGeom>
          <a:solidFill>
            <a:srgbClr val="E6F3F3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发药时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2377440"/>
            <a:ext cx="3200400" cy="685800"/>
          </a:xfrm>
          <a:prstGeom prst="rect">
            <a:avLst/>
          </a:prstGeom>
          <a:solidFill>
            <a:srgbClr val="E6F3F3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扫盒绑患者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54680"/>
            <a:ext cx="1280160" cy="685800"/>
          </a:xfrm>
          <a:prstGeom prst="rect">
            <a:avLst/>
          </a:prstGeom>
          <a:solidFill>
            <a:srgbClr val="C48A1A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方案3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3154680"/>
            <a:ext cx="2194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药房+护士双扫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3154680"/>
            <a:ext cx="23774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两道核对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154680"/>
            <a:ext cx="1828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核发+摆药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3154680"/>
            <a:ext cx="32004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池→归因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931920"/>
            <a:ext cx="1280160" cy="685800"/>
          </a:xfrm>
          <a:prstGeom prst="rect">
            <a:avLst/>
          </a:prstGeom>
          <a:solidFill>
            <a:srgbClr val="2A9D6E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方案4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3931920"/>
            <a:ext cx="2194560" cy="685800"/>
          </a:xfrm>
          <a:prstGeom prst="rect">
            <a:avLst/>
          </a:prstGeom>
          <a:solidFill>
            <a:srgbClr val="E6F3F3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瓶贴闭环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3931920"/>
            <a:ext cx="2377440" cy="685800"/>
          </a:xfrm>
          <a:prstGeom prst="rect">
            <a:avLst/>
          </a:prstGeom>
          <a:solidFill>
            <a:srgbClr val="E6F3F3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床旁不扫盒码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3931920"/>
            <a:ext cx="1828800" cy="685800"/>
          </a:xfrm>
          <a:prstGeom prst="rect">
            <a:avLst/>
          </a:prstGeom>
          <a:solidFill>
            <a:srgbClr val="E6F3F3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打印前+床旁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3920" y="3931920"/>
            <a:ext cx="3200400" cy="685800"/>
          </a:xfrm>
          <a:prstGeom prst="rect">
            <a:avLst/>
          </a:prstGeom>
          <a:solidFill>
            <a:srgbClr val="E6F3F3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绑码→扫贴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709160"/>
            <a:ext cx="1280160" cy="685800"/>
          </a:xfrm>
          <a:prstGeom prst="rect">
            <a:avLst/>
          </a:prstGeom>
          <a:solidFill>
            <a:srgbClr val="0D7377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方案5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4709160"/>
            <a:ext cx="219456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分级组合★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4709160"/>
            <a:ext cx="23774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默认推荐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4709160"/>
            <a:ext cx="18288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按品种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4709160"/>
            <a:ext cx="32004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2+4+3切片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6692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5456"/>
                </a:solidFill>
                <a:latin typeface="Microsoft YaHei"/>
                <a:ea typeface="Microsoft YaHei"/>
              </a:rPr>
              <a:t>★ 方案5 = 整盒走方案2 + 拆零走方案4 + 高值走方案3，多数医院会议建议以此为讨论基线。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住院药品追溯码采集与上传方案 · 院方讨论稿 · 内部资料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solidFill>
              <a:srgbClr val="F4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45C26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方案1  护士摆药扫码（药房不扫）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E8"/>
                </a:solidFill>
                <a:latin typeface="Microsoft YaHei"/>
                <a:ea typeface="Microsoft YaHei"/>
              </a:rPr>
              <a:t>谁扫：摆药护士主责 ｜ 何时：摆药分到患者前</a:t>
            </a:r>
          </a:p>
        </p:txBody>
      </p:sp>
      <p:sp>
        <p:nvSpPr>
          <p:cNvPr id="7" name="Chevron 6"/>
          <p:cNvSpPr/>
          <p:nvPr/>
        </p:nvSpPr>
        <p:spPr>
          <a:xfrm>
            <a:off x="2049627" y="1143000"/>
            <a:ext cx="1920240" cy="502920"/>
          </a:xfrm>
          <a:prstGeom prst="chevron">
            <a:avLst/>
          </a:prstGeom>
          <a:solidFill>
            <a:srgbClr val="2B6A8F"/>
          </a:solidFill>
          <a:ln>
            <a:solidFill>
              <a:srgbClr val="2B6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药房发药</a:t>
            </a:r>
          </a:p>
        </p:txBody>
      </p:sp>
      <p:sp>
        <p:nvSpPr>
          <p:cNvPr id="8" name="Chevron 7"/>
          <p:cNvSpPr/>
          <p:nvPr/>
        </p:nvSpPr>
        <p:spPr>
          <a:xfrm>
            <a:off x="4107027" y="1143000"/>
            <a:ext cx="1920240" cy="502920"/>
          </a:xfrm>
          <a:prstGeom prst="chevron">
            <a:avLst/>
          </a:prstGeom>
          <a:solidFill>
            <a:srgbClr val="2B6A8F"/>
          </a:solidFill>
          <a:ln>
            <a:solidFill>
              <a:srgbClr val="2B6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摆药扫盒码</a:t>
            </a:r>
          </a:p>
        </p:txBody>
      </p:sp>
      <p:sp>
        <p:nvSpPr>
          <p:cNvPr id="9" name="Chevron 8"/>
          <p:cNvSpPr/>
          <p:nvPr/>
        </p:nvSpPr>
        <p:spPr>
          <a:xfrm>
            <a:off x="6164427" y="1143000"/>
            <a:ext cx="1920240" cy="502920"/>
          </a:xfrm>
          <a:prstGeom prst="chevron">
            <a:avLst/>
          </a:prstGeom>
          <a:solidFill>
            <a:srgbClr val="2B6A8F"/>
          </a:solidFill>
          <a:ln>
            <a:solidFill>
              <a:srgbClr val="2B6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绑到患者</a:t>
            </a:r>
          </a:p>
        </p:txBody>
      </p:sp>
      <p:sp>
        <p:nvSpPr>
          <p:cNvPr id="10" name="Chevron 9"/>
          <p:cNvSpPr/>
          <p:nvPr/>
        </p:nvSpPr>
        <p:spPr>
          <a:xfrm>
            <a:off x="8221827" y="1143000"/>
            <a:ext cx="1920240" cy="502920"/>
          </a:xfrm>
          <a:prstGeom prst="chevron">
            <a:avLst/>
          </a:prstGeom>
          <a:solidFill>
            <a:srgbClr val="2B6A8F"/>
          </a:solidFill>
          <a:ln>
            <a:solidFill>
              <a:srgbClr val="2B6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出院统传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874519"/>
            <a:ext cx="694944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6A8F"/>
                </a:solidFill>
                <a:latin typeface="Microsoft YaHei"/>
                <a:ea typeface="Microsoft YaHei"/>
              </a:rPr>
              <a:t>怎么扫 · 正向与逆向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2316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整盒：连扫 N 个盒码 → 绑患者（码数=盒数）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拆零：先扫母盒 → 多人可共用同一码 → 再分入无码药袋 → 母盒归架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退药：再扫被退盒/母盒；仅裸药则系统带出原码确认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禁止：扫药袋补码；一码顶多盒；退药不清码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口诀：药房发药不扫码；摆药台上扫盒码；先扫后分母盒留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874519"/>
            <a:ext cx="4206240" cy="2011680"/>
          </a:xfrm>
          <a:prstGeom prst="roundRect">
            <a:avLst>
              <a:gd name="adj" fmla="val 8000"/>
            </a:avLst>
          </a:prstGeom>
          <a:solidFill>
            <a:srgbClr val="E6F3F3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19659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9D6E"/>
                </a:solidFill>
                <a:latin typeface="Microsoft YaHei"/>
                <a:ea typeface="Microsoft YaHei"/>
              </a:rPr>
              <a:t>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28600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药房零增量，发药不受拖累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拆零归因直观，病区退药可闭环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设备投入低，落地快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4069080"/>
            <a:ext cx="4206240" cy="2103120"/>
          </a:xfrm>
          <a:prstGeom prst="roundRect">
            <a:avLst>
              <a:gd name="adj" fmla="val 8000"/>
            </a:avLst>
          </a:prstGeom>
          <a:solidFill>
            <a:srgbClr val="FBF0EC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33A3A"/>
                </a:solidFill>
                <a:latin typeface="Microsoft YaHei"/>
                <a:ea typeface="Microsoft YaHei"/>
              </a:rPr>
              <a:t>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480560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护士高峰工作量大，易漏扫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无药房码池，飞检说服力偏弱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依赖母盒架，乱扔包装难再扫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住院药品追溯码采集与上传方案 · 院方讨论稿 · 内部资料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solidFill>
              <a:srgbClr val="F4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45C26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方案2  药房发药扫码（护士不扫追溯）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E8"/>
                </a:solidFill>
                <a:latin typeface="Microsoft YaHei"/>
                <a:ea typeface="Microsoft YaHei"/>
              </a:rPr>
              <a:t>谁扫：药房药师主责 ｜ 何时：发药/核发当时</a:t>
            </a:r>
          </a:p>
        </p:txBody>
      </p:sp>
      <p:sp>
        <p:nvSpPr>
          <p:cNvPr id="7" name="Chevron 6"/>
          <p:cNvSpPr/>
          <p:nvPr/>
        </p:nvSpPr>
        <p:spPr>
          <a:xfrm>
            <a:off x="1020927" y="1143000"/>
            <a:ext cx="1920240" cy="502920"/>
          </a:xfrm>
          <a:prstGeom prst="chevron">
            <a:avLst/>
          </a:prstGeom>
          <a:solidFill>
            <a:srgbClr val="3D4F5F"/>
          </a:solidFill>
          <a:ln>
            <a:solidFill>
              <a:srgbClr val="3D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药房扫码</a:t>
            </a:r>
          </a:p>
        </p:txBody>
      </p:sp>
      <p:sp>
        <p:nvSpPr>
          <p:cNvPr id="8" name="Chevron 7"/>
          <p:cNvSpPr/>
          <p:nvPr/>
        </p:nvSpPr>
        <p:spPr>
          <a:xfrm>
            <a:off x="3078327" y="1143000"/>
            <a:ext cx="1920240" cy="502920"/>
          </a:xfrm>
          <a:prstGeom prst="chevron">
            <a:avLst/>
          </a:prstGeom>
          <a:solidFill>
            <a:srgbClr val="3D4F5F"/>
          </a:solidFill>
          <a:ln>
            <a:solidFill>
              <a:srgbClr val="3D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绑到患者</a:t>
            </a:r>
          </a:p>
        </p:txBody>
      </p:sp>
      <p:sp>
        <p:nvSpPr>
          <p:cNvPr id="9" name="Chevron 8"/>
          <p:cNvSpPr/>
          <p:nvPr/>
        </p:nvSpPr>
        <p:spPr>
          <a:xfrm>
            <a:off x="5135727" y="1143000"/>
            <a:ext cx="1920240" cy="502920"/>
          </a:xfrm>
          <a:prstGeom prst="chevron">
            <a:avLst/>
          </a:prstGeom>
          <a:solidFill>
            <a:srgbClr val="3D4F5F"/>
          </a:solidFill>
          <a:ln>
            <a:solidFill>
              <a:srgbClr val="3D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病区用药</a:t>
            </a:r>
          </a:p>
        </p:txBody>
      </p:sp>
      <p:sp>
        <p:nvSpPr>
          <p:cNvPr id="10" name="Chevron 9"/>
          <p:cNvSpPr/>
          <p:nvPr/>
        </p:nvSpPr>
        <p:spPr>
          <a:xfrm>
            <a:off x="7193127" y="1143000"/>
            <a:ext cx="1920240" cy="502920"/>
          </a:xfrm>
          <a:prstGeom prst="chevron">
            <a:avLst/>
          </a:prstGeom>
          <a:solidFill>
            <a:srgbClr val="3D4F5F"/>
          </a:solidFill>
          <a:ln>
            <a:solidFill>
              <a:srgbClr val="3D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退药回扫</a:t>
            </a:r>
          </a:p>
        </p:txBody>
      </p:sp>
      <p:sp>
        <p:nvSpPr>
          <p:cNvPr id="11" name="Chevron 10"/>
          <p:cNvSpPr/>
          <p:nvPr/>
        </p:nvSpPr>
        <p:spPr>
          <a:xfrm>
            <a:off x="9250527" y="1143000"/>
            <a:ext cx="1920240" cy="502920"/>
          </a:xfrm>
          <a:prstGeom prst="chevron">
            <a:avLst/>
          </a:prstGeom>
          <a:solidFill>
            <a:srgbClr val="3D4F5F"/>
          </a:solidFill>
          <a:ln>
            <a:solidFill>
              <a:srgbClr val="3D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出院统传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874519"/>
            <a:ext cx="694944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11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D4F5F"/>
                </a:solidFill>
                <a:latin typeface="Microsoft YaHei"/>
                <a:ea typeface="Microsoft YaHei"/>
              </a:rPr>
              <a:t>怎么扫 · 正向与逆向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整盒：窗口连扫 N 码 → 写入该患者发放行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拆零：扫母盒码 → 必须分别写到每个患者行（允许共用）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护士：不扫追溯码，但须保管母盒、整盒退回原盒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退药：原盒/母盒回药房再扫清码；无盒走带出原码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口诀：发药窗口扫盒码；码要落到每个人；退药原盒回药房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874519"/>
            <a:ext cx="4206240" cy="2011680"/>
          </a:xfrm>
          <a:prstGeom prst="roundRect">
            <a:avLst>
              <a:gd name="adj" fmla="val 8000"/>
            </a:avLst>
          </a:prstGeom>
          <a:solidFill>
            <a:srgbClr val="E6F3F3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9659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9D6E"/>
                </a:solidFill>
                <a:latin typeface="Microsoft YaHei"/>
                <a:ea typeface="Microsoft YaHei"/>
              </a:rPr>
              <a:t>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228600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护理零增量，落地阻力小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出库即有码，合规口径清晰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整盒窗口连扫专业高效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069080"/>
            <a:ext cx="4206240" cy="2103120"/>
          </a:xfrm>
          <a:prstGeom prst="roundRect">
            <a:avLst>
              <a:gd name="adj" fmla="val 8000"/>
            </a:avLst>
          </a:prstGeom>
          <a:solidFill>
            <a:srgbClr val="FBF0EC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4160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33A3A"/>
                </a:solidFill>
                <a:latin typeface="Microsoft YaHei"/>
                <a:ea typeface="Microsoft YaHei"/>
              </a:rPr>
              <a:t>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480560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药房成瓶颈，高峰易排队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拆零归因是难点（必须到人）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退药强依赖原盒回药房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住院药品追溯码采集与上传方案 · 院方讨论稿 · 内部资料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solidFill>
              <a:srgbClr val="F4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45C26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方案3  药房 + 护士双扫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E8"/>
                </a:solidFill>
                <a:latin typeface="Microsoft YaHei"/>
                <a:ea typeface="Microsoft YaHei"/>
              </a:rPr>
              <a:t>谁扫：药师第一道 + 护士第二道 ｜ 何时：核发入池 → 摆药归因</a:t>
            </a:r>
          </a:p>
        </p:txBody>
      </p:sp>
      <p:sp>
        <p:nvSpPr>
          <p:cNvPr id="7" name="Chevron 6"/>
          <p:cNvSpPr/>
          <p:nvPr/>
        </p:nvSpPr>
        <p:spPr>
          <a:xfrm>
            <a:off x="1020927" y="1143000"/>
            <a:ext cx="1920240" cy="502920"/>
          </a:xfrm>
          <a:prstGeom prst="chevron">
            <a:avLst/>
          </a:prstGeom>
          <a:solidFill>
            <a:srgbClr val="C48A1A"/>
          </a:solidFill>
          <a:ln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药房入池</a:t>
            </a:r>
          </a:p>
        </p:txBody>
      </p:sp>
      <p:sp>
        <p:nvSpPr>
          <p:cNvPr id="8" name="Chevron 7"/>
          <p:cNvSpPr/>
          <p:nvPr/>
        </p:nvSpPr>
        <p:spPr>
          <a:xfrm>
            <a:off x="3078327" y="1143000"/>
            <a:ext cx="1920240" cy="502920"/>
          </a:xfrm>
          <a:prstGeom prst="chevron">
            <a:avLst/>
          </a:prstGeom>
          <a:solidFill>
            <a:srgbClr val="C48A1A"/>
          </a:solidFill>
          <a:ln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护士归因</a:t>
            </a:r>
          </a:p>
        </p:txBody>
      </p:sp>
      <p:sp>
        <p:nvSpPr>
          <p:cNvPr id="9" name="Chevron 8"/>
          <p:cNvSpPr/>
          <p:nvPr/>
        </p:nvSpPr>
        <p:spPr>
          <a:xfrm>
            <a:off x="5135727" y="1143000"/>
            <a:ext cx="1920240" cy="502920"/>
          </a:xfrm>
          <a:prstGeom prst="chevron">
            <a:avLst/>
          </a:prstGeom>
          <a:solidFill>
            <a:srgbClr val="C48A1A"/>
          </a:solidFill>
          <a:ln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绑到患者</a:t>
            </a:r>
          </a:p>
        </p:txBody>
      </p:sp>
      <p:sp>
        <p:nvSpPr>
          <p:cNvPr id="10" name="Chevron 9"/>
          <p:cNvSpPr/>
          <p:nvPr/>
        </p:nvSpPr>
        <p:spPr>
          <a:xfrm>
            <a:off x="7193127" y="1143000"/>
            <a:ext cx="1920240" cy="502920"/>
          </a:xfrm>
          <a:prstGeom prst="chevron">
            <a:avLst/>
          </a:prstGeom>
          <a:solidFill>
            <a:srgbClr val="C48A1A"/>
          </a:solidFill>
          <a:ln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双侧退药</a:t>
            </a:r>
          </a:p>
        </p:txBody>
      </p:sp>
      <p:sp>
        <p:nvSpPr>
          <p:cNvPr id="11" name="Chevron 10"/>
          <p:cNvSpPr/>
          <p:nvPr/>
        </p:nvSpPr>
        <p:spPr>
          <a:xfrm>
            <a:off x="9250527" y="1143000"/>
            <a:ext cx="1920240" cy="502920"/>
          </a:xfrm>
          <a:prstGeom prst="chevron">
            <a:avLst/>
          </a:prstGeom>
          <a:solidFill>
            <a:srgbClr val="C48A1A"/>
          </a:solidFill>
          <a:ln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出院统传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874519"/>
            <a:ext cx="694944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11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48A1A"/>
                </a:solidFill>
                <a:latin typeface="Microsoft YaHei"/>
                <a:ea typeface="Microsoft YaHei"/>
              </a:rPr>
              <a:t>怎么扫 · 两道分工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药房：扫追溯码进入汇总码池（回答：发出哪些码？）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护士：仅扫/选池内码归因到患者（回答：码给了谁？）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拆零：药房扫母盒入池 → 护士持母盒确认后多人绑定 → 再分袋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退药：护士发起带码 + 药房确认入库（建议终态在药房）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口诀：药房先扫入码池；护士再扫落到人；池外码一律拒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874519"/>
            <a:ext cx="4206240" cy="2011680"/>
          </a:xfrm>
          <a:prstGeom prst="roundRect">
            <a:avLst>
              <a:gd name="adj" fmla="val 8000"/>
            </a:avLst>
          </a:prstGeom>
          <a:solidFill>
            <a:srgbClr val="E6F3F3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9659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9D6E"/>
                </a:solidFill>
                <a:latin typeface="Microsoft YaHei"/>
                <a:ea typeface="Microsoft YaHei"/>
              </a:rPr>
              <a:t>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228600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双重核对，飞检说服力最强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防串码，职责分离清晰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与现有码池+护士分配产品贴近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069080"/>
            <a:ext cx="4206240" cy="2103120"/>
          </a:xfrm>
          <a:prstGeom prst="roundRect">
            <a:avLst>
              <a:gd name="adj" fmla="val 8000"/>
            </a:avLst>
          </a:prstGeom>
          <a:solidFill>
            <a:srgbClr val="FBF0EC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4160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33A3A"/>
                </a:solidFill>
                <a:latin typeface="Microsoft YaHei"/>
                <a:ea typeface="Microsoft YaHei"/>
              </a:rPr>
              <a:t>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480560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人力成本最高，流程最长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两端积压会卡住全链路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全品种双扫过重，宜限高值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住院药品追溯码采集与上传方案 · 院方讨论稿 · 内部资料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solidFill>
              <a:srgbClr val="F4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45C26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方案4  瓶贴 / 医嘱单闭环（推荐4D）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E8"/>
                </a:solidFill>
                <a:latin typeface="Microsoft YaHei"/>
                <a:ea typeface="Microsoft YaHei"/>
              </a:rPr>
              <a:t>谁扫：打印前绑追溯码；床旁扫业务码 ｜ 何时：打印前 + 床旁给药</a:t>
            </a:r>
          </a:p>
        </p:txBody>
      </p:sp>
      <p:sp>
        <p:nvSpPr>
          <p:cNvPr id="7" name="Chevron 6"/>
          <p:cNvSpPr/>
          <p:nvPr/>
        </p:nvSpPr>
        <p:spPr>
          <a:xfrm>
            <a:off x="1020927" y="1143000"/>
            <a:ext cx="1920240" cy="502920"/>
          </a:xfrm>
          <a:prstGeom prst="chevron">
            <a:avLst/>
          </a:prstGeom>
          <a:solidFill>
            <a:srgbClr val="2A9D6E"/>
          </a:solidFill>
          <a:ln>
            <a:solidFill>
              <a:srgbClr val="2A9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扫母盒绑码</a:t>
            </a:r>
          </a:p>
        </p:txBody>
      </p:sp>
      <p:sp>
        <p:nvSpPr>
          <p:cNvPr id="8" name="Chevron 7"/>
          <p:cNvSpPr/>
          <p:nvPr/>
        </p:nvSpPr>
        <p:spPr>
          <a:xfrm>
            <a:off x="3078327" y="1143000"/>
            <a:ext cx="1920240" cy="502920"/>
          </a:xfrm>
          <a:prstGeom prst="chevron">
            <a:avLst/>
          </a:prstGeom>
          <a:solidFill>
            <a:srgbClr val="2A9D6E"/>
          </a:solidFill>
          <a:ln>
            <a:solidFill>
              <a:srgbClr val="2A9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打印瓶贴</a:t>
            </a:r>
          </a:p>
        </p:txBody>
      </p:sp>
      <p:sp>
        <p:nvSpPr>
          <p:cNvPr id="9" name="Chevron 8"/>
          <p:cNvSpPr/>
          <p:nvPr/>
        </p:nvSpPr>
        <p:spPr>
          <a:xfrm>
            <a:off x="5135727" y="1143000"/>
            <a:ext cx="1920240" cy="502920"/>
          </a:xfrm>
          <a:prstGeom prst="chevron">
            <a:avLst/>
          </a:prstGeom>
          <a:solidFill>
            <a:srgbClr val="2A9D6E"/>
          </a:solidFill>
          <a:ln>
            <a:solidFill>
              <a:srgbClr val="2A9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床旁扫贴</a:t>
            </a:r>
          </a:p>
        </p:txBody>
      </p:sp>
      <p:sp>
        <p:nvSpPr>
          <p:cNvPr id="10" name="Chevron 9"/>
          <p:cNvSpPr/>
          <p:nvPr/>
        </p:nvSpPr>
        <p:spPr>
          <a:xfrm>
            <a:off x="7193127" y="1143000"/>
            <a:ext cx="1920240" cy="502920"/>
          </a:xfrm>
          <a:prstGeom prst="chevron">
            <a:avLst/>
          </a:prstGeom>
          <a:solidFill>
            <a:srgbClr val="2A9D6E"/>
          </a:solidFill>
          <a:ln>
            <a:solidFill>
              <a:srgbClr val="2A9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退药清码</a:t>
            </a:r>
          </a:p>
        </p:txBody>
      </p:sp>
      <p:sp>
        <p:nvSpPr>
          <p:cNvPr id="11" name="Chevron 10"/>
          <p:cNvSpPr/>
          <p:nvPr/>
        </p:nvSpPr>
        <p:spPr>
          <a:xfrm>
            <a:off x="9250527" y="1143000"/>
            <a:ext cx="1920240" cy="502920"/>
          </a:xfrm>
          <a:prstGeom prst="chevron">
            <a:avLst/>
          </a:prstGeom>
          <a:solidFill>
            <a:srgbClr val="2A9D6E"/>
          </a:solidFill>
          <a:ln>
            <a:solidFill>
              <a:srgbClr val="2A9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出院统传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874519"/>
            <a:ext cx="694944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11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A9D6E"/>
                </a:solidFill>
                <a:latin typeface="Microsoft YaHei"/>
                <a:ea typeface="Microsoft YaHei"/>
              </a:rPr>
              <a:t>怎么扫 · 两种码不要混淆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① 摆药/打印前：扫母盒国家追溯码 → 绑患者（监管无码则拒打）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② 打印瓶贴或医嘱执行单（业务条码关联发放行）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③ 床旁：扫腕带 + 瓶贴/医嘱单 —— 不扫盒上追溯码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④ 拆零：一人一贴，库内可共用同一母盒追溯码；母盒不必随车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口诀：打印之前扫盒码；有码才打瓶贴单；床旁只扫腕带贴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874519"/>
            <a:ext cx="4206240" cy="2011680"/>
          </a:xfrm>
          <a:prstGeom prst="roundRect">
            <a:avLst>
              <a:gd name="adj" fmla="val 8000"/>
            </a:avLst>
          </a:prstGeom>
          <a:solidFill>
            <a:srgbClr val="E6F3F3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9659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9D6E"/>
                </a:solidFill>
                <a:latin typeface="Microsoft YaHei"/>
                <a:ea typeface="Microsoft YaHei"/>
              </a:rPr>
              <a:t>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228600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完美避开拆零药袋无码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闭环护理体验好，易推广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整盒/拆零床旁动作统一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069080"/>
            <a:ext cx="4206240" cy="2103120"/>
          </a:xfrm>
          <a:prstGeom prst="roundRect">
            <a:avLst>
              <a:gd name="adj" fmla="val 8000"/>
            </a:avLst>
          </a:prstGeom>
          <a:solidFill>
            <a:srgbClr val="FBF0EC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79" y="4160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33A3A"/>
                </a:solidFill>
                <a:latin typeface="Microsoft YaHei"/>
                <a:ea typeface="Microsoft YaHei"/>
              </a:rPr>
              <a:t>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480560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需 PDA+瓶贴机，改造成本高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错贴/漏打仍有给错药风险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退药不能只撕贴，仍要清追溯码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住院药品追溯码采集与上传方案 · 院方讨论稿 · 内部资料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solidFill>
              <a:srgbClr val="F4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45C26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方案5 分级组合 · 配图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E8"/>
                </a:solidFill>
                <a:latin typeface="Microsoft YaHei"/>
                <a:ea typeface="Microsoft YaHei"/>
              </a:rPr>
              <a:t>一张图看清：什么药走哪条扫码路径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143000"/>
            <a:ext cx="3931920" cy="594360"/>
          </a:xfrm>
          <a:prstGeom prst="round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监管品种？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0312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2651760" cy="411480"/>
          </a:xfrm>
          <a:prstGeom prst="rect">
            <a:avLst/>
          </a:prstGeom>
          <a:solidFill>
            <a:srgbClr val="3D4F5F"/>
          </a:solidFill>
          <a:ln>
            <a:solidFill>
              <a:srgbClr val="3D4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非监管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79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免扫 / 抽查
（院方配置）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86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D4F5F"/>
                </a:solidFill>
                <a:latin typeface="Microsoft YaHei"/>
                <a:ea typeface="Microsoft YaHei"/>
              </a:rPr>
              <a:t>卡片 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10312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2103120"/>
            <a:ext cx="2651760" cy="411480"/>
          </a:xfrm>
          <a:prstGeom prst="rect">
            <a:avLst/>
          </a:prstGeom>
          <a:solidFill>
            <a:srgbClr val="2B6A8F"/>
          </a:solidFill>
          <a:ln>
            <a:solidFill>
              <a:srgbClr val="2B6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监管 · 整盒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697479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药房发药扫
码绑患者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886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B6A8F"/>
                </a:solidFill>
                <a:latin typeface="Microsoft YaHei"/>
                <a:ea typeface="Microsoft YaHei"/>
              </a:rPr>
              <a:t>卡片 A = 方案2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210312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2103120"/>
            <a:ext cx="2651760" cy="411480"/>
          </a:xfrm>
          <a:prstGeom prst="rect">
            <a:avLst/>
          </a:prstGeom>
          <a:solidFill>
            <a:srgbClr val="2A9D6E"/>
          </a:solidFill>
          <a:ln>
            <a:solidFill>
              <a:srgbClr val="2A9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监管 · 拆零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697479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打印前扫母盒
床旁扫瓶贴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886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A9D6E"/>
                </a:solidFill>
                <a:latin typeface="Microsoft YaHei"/>
                <a:ea typeface="Microsoft YaHei"/>
              </a:rPr>
              <a:t>卡片 B = 方案4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210312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2103120"/>
            <a:ext cx="2651760" cy="411480"/>
          </a:xfrm>
          <a:prstGeom prst="rect">
            <a:avLst/>
          </a:prstGeom>
          <a:solidFill>
            <a:srgbClr val="C48A1A"/>
          </a:solidFill>
          <a:ln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高值 / 精麻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697479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药房入池
护士再归因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8862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8A1A"/>
                </a:solidFill>
                <a:latin typeface="Microsoft YaHei"/>
                <a:ea typeface="Microsoft YaHei"/>
              </a:rPr>
              <a:t>卡片 C = 方案3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63440"/>
            <a:ext cx="1124712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B2E"/>
                </a:solidFill>
                <a:latin typeface="Microsoft YaHei"/>
                <a:ea typeface="Microsoft YaHei"/>
              </a:rPr>
              <a:t>推荐落地节奏（降低排班冲击）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21208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2B6A8F"/>
          </a:solidFill>
          <a:ln>
            <a:solidFill>
              <a:srgbClr val="2B6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第一阶段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212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监管整盒上方案2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521208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2A9D6E"/>
          </a:solidFill>
          <a:ln>
            <a:solidFill>
              <a:srgbClr val="2A9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第二阶段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5212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拆零上方案4瓶贴闭环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5212080"/>
            <a:ext cx="1371600" cy="320040"/>
          </a:xfrm>
          <a:prstGeom prst="roundRect">
            <a:avLst>
              <a:gd name="adj" fmla="val 50000"/>
            </a:avLst>
          </a:prstGeom>
          <a:solidFill>
            <a:srgbClr val="C48A1A"/>
          </a:solidFill>
          <a:ln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第三阶段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5212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高值加方案3双扫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A6F74"/>
                </a:solidFill>
                <a:latin typeface="Microsoft YaHei"/>
                <a:ea typeface="Microsoft YaHei"/>
              </a:rPr>
              <a:t>HIS 发药/摆药界面建议直接提示本行策略（A/B/C），避免口头记忆出错。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住院药品追溯码采集与上传方案 · 院方讨论稿 · 内部资料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solidFill>
              <a:srgbClr val="F4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45C26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方案5  分级组合（默认推荐）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E8"/>
                </a:solidFill>
                <a:latin typeface="Microsoft YaHei"/>
                <a:ea typeface="Microsoft YaHei"/>
              </a:rPr>
              <a:t>谁扫：按品种分别套用 2 / 4 / 3 ｜ 何时：见策略卡片 A/B/C</a:t>
            </a:r>
          </a:p>
        </p:txBody>
      </p:sp>
      <p:sp>
        <p:nvSpPr>
          <p:cNvPr id="7" name="Chevron 6"/>
          <p:cNvSpPr/>
          <p:nvPr/>
        </p:nvSpPr>
        <p:spPr>
          <a:xfrm>
            <a:off x="2049627" y="1143000"/>
            <a:ext cx="1920240" cy="502920"/>
          </a:xfrm>
          <a:prstGeom prst="chevron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判品种</a:t>
            </a:r>
          </a:p>
        </p:txBody>
      </p:sp>
      <p:sp>
        <p:nvSpPr>
          <p:cNvPr id="8" name="Chevron 7"/>
          <p:cNvSpPr/>
          <p:nvPr/>
        </p:nvSpPr>
        <p:spPr>
          <a:xfrm>
            <a:off x="4107027" y="1143000"/>
            <a:ext cx="1920240" cy="502920"/>
          </a:xfrm>
          <a:prstGeom prst="chevron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走对应卡片</a:t>
            </a:r>
          </a:p>
        </p:txBody>
      </p:sp>
      <p:sp>
        <p:nvSpPr>
          <p:cNvPr id="9" name="Chevron 8"/>
          <p:cNvSpPr/>
          <p:nvPr/>
        </p:nvSpPr>
        <p:spPr>
          <a:xfrm>
            <a:off x="6164427" y="1143000"/>
            <a:ext cx="1920240" cy="502920"/>
          </a:xfrm>
          <a:prstGeom prst="chevron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分场景扫</a:t>
            </a:r>
          </a:p>
        </p:txBody>
      </p:sp>
      <p:sp>
        <p:nvSpPr>
          <p:cNvPr id="10" name="Chevron 9"/>
          <p:cNvSpPr/>
          <p:nvPr/>
        </p:nvSpPr>
        <p:spPr>
          <a:xfrm>
            <a:off x="8221827" y="1143000"/>
            <a:ext cx="1920240" cy="502920"/>
          </a:xfrm>
          <a:prstGeom prst="chevron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统一出院传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874519"/>
            <a:ext cx="694944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7377"/>
                </a:solidFill>
                <a:latin typeface="Microsoft YaHei"/>
                <a:ea typeface="Microsoft YaHei"/>
              </a:rPr>
              <a:t>为什么比「四选一」更好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23160"/>
            <a:ext cx="6492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整盒走方案2：不拖垮护理，窗口快扫合规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拆零走方案4：不逼床旁找盒码，瓶贴闭环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高值走方案3：人力打在风险最高的品种上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可分期：先 A 再 B 再 C，排班冲击可控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代价：制度/系统要支持按品种策略，培训分场景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874519"/>
            <a:ext cx="4206240" cy="2011680"/>
          </a:xfrm>
          <a:prstGeom prst="roundRect">
            <a:avLst>
              <a:gd name="adj" fmla="val 8000"/>
            </a:avLst>
          </a:prstGeom>
          <a:solidFill>
            <a:srgbClr val="E6F3F3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19659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A9D6E"/>
                </a:solidFill>
                <a:latin typeface="Microsoft YaHei"/>
                <a:ea typeface="Microsoft YaHei"/>
              </a:rPr>
              <a:t>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28600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多数医院最优平衡点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飞检口径清晰可配置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继承各积木优点、削峰填谷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4069080"/>
            <a:ext cx="4206240" cy="2103120"/>
          </a:xfrm>
          <a:prstGeom prst="roundRect">
            <a:avLst>
              <a:gd name="adj" fmla="val 8000"/>
            </a:avLst>
          </a:prstGeom>
          <a:solidFill>
            <a:srgbClr val="FBF0EC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41605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33A3A"/>
                </a:solidFill>
                <a:latin typeface="Microsoft YaHei"/>
                <a:ea typeface="Microsoft YaHei"/>
              </a:rPr>
              <a:t>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4480560"/>
            <a:ext cx="3840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SOP 不能一张打天下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系统改造大于单方案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· 初期易混用规则（需界面提示）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住院药品追溯码采集与上传方案 · 院方讨论稿 · 内部资料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solidFill>
              <a:srgbClr val="F4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45C26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综合对比矩阵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E8"/>
                </a:solidFill>
                <a:latin typeface="Microsoft YaHei"/>
                <a:ea typeface="Microsoft YaHei"/>
              </a:rPr>
              <a:t>从工作量、合规、拆零友好度看差异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828800" cy="457200"/>
          </a:xfrm>
          <a:prstGeom prst="rect">
            <a:avLst/>
          </a:prstGeom>
          <a:solidFill>
            <a:srgbClr val="085456"/>
          </a:solidFill>
          <a:ln>
            <a:solidFill>
              <a:srgbClr val="085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维度 \ 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143000"/>
            <a:ext cx="1920240" cy="457200"/>
          </a:xfrm>
          <a:prstGeom prst="rect">
            <a:avLst/>
          </a:prstGeom>
          <a:solidFill>
            <a:srgbClr val="3D4F5F"/>
          </a:solidFill>
          <a:ln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方案1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143000"/>
            <a:ext cx="1920240" cy="457200"/>
          </a:xfrm>
          <a:prstGeom prst="rect">
            <a:avLst/>
          </a:prstGeom>
          <a:solidFill>
            <a:srgbClr val="3D4F5F"/>
          </a:solidFill>
          <a:ln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方案2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143000"/>
            <a:ext cx="1920240" cy="457200"/>
          </a:xfrm>
          <a:prstGeom prst="rect">
            <a:avLst/>
          </a:prstGeom>
          <a:solidFill>
            <a:srgbClr val="3D4F5F"/>
          </a:solidFill>
          <a:ln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方案3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143000"/>
            <a:ext cx="1920240" cy="457200"/>
          </a:xfrm>
          <a:prstGeom prst="rect">
            <a:avLst/>
          </a:prstGeom>
          <a:solidFill>
            <a:srgbClr val="3D4F5F"/>
          </a:solidFill>
          <a:ln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方案4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5520" y="1143000"/>
            <a:ext cx="1920240" cy="457200"/>
          </a:xfrm>
          <a:prstGeom prst="rect">
            <a:avLst/>
          </a:prstGeom>
          <a:solidFill>
            <a:srgbClr val="0D7377"/>
          </a:solidFill>
          <a:ln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方案5★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00200"/>
            <a:ext cx="1828800" cy="685800"/>
          </a:xfrm>
          <a:prstGeom prst="rect">
            <a:avLst/>
          </a:prstGeom>
          <a:solidFill>
            <a:srgbClr val="E6F3F3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B2E"/>
                </a:solidFill>
                <a:latin typeface="Microsoft YaHei"/>
                <a:ea typeface="Microsoft YaHei"/>
              </a:rPr>
              <a:t>护士工作量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1600200"/>
            <a:ext cx="1920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600200"/>
            <a:ext cx="1920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600200"/>
            <a:ext cx="1920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1600200"/>
            <a:ext cx="1920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0" y="1600200"/>
            <a:ext cx="1920240" cy="685800"/>
          </a:xfrm>
          <a:prstGeom prst="rect">
            <a:avLst/>
          </a:prstGeom>
          <a:solidFill>
            <a:srgbClr val="E6F3F3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中（削峰）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86000"/>
            <a:ext cx="1828800" cy="685800"/>
          </a:xfrm>
          <a:prstGeom prst="rect">
            <a:avLst/>
          </a:prstGeom>
          <a:solidFill>
            <a:srgbClr val="E6F3F3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B2E"/>
                </a:solidFill>
                <a:latin typeface="Microsoft YaHei"/>
                <a:ea typeface="Microsoft YaHei"/>
              </a:rPr>
              <a:t>药房工作量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2286000"/>
            <a:ext cx="1920240" cy="685800"/>
          </a:xfrm>
          <a:prstGeom prst="rect">
            <a:avLst/>
          </a:prstGeom>
          <a:solidFill>
            <a:srgbClr val="EEF5F5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2286000"/>
            <a:ext cx="1920240" cy="685800"/>
          </a:xfrm>
          <a:prstGeom prst="rect">
            <a:avLst/>
          </a:prstGeom>
          <a:solidFill>
            <a:srgbClr val="EEF5F5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286000"/>
            <a:ext cx="1920240" cy="685800"/>
          </a:xfrm>
          <a:prstGeom prst="rect">
            <a:avLst/>
          </a:prstGeom>
          <a:solidFill>
            <a:srgbClr val="EEF5F5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2286000"/>
            <a:ext cx="1920240" cy="685800"/>
          </a:xfrm>
          <a:prstGeom prst="rect">
            <a:avLst/>
          </a:prstGeom>
          <a:solidFill>
            <a:srgbClr val="EEF5F5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2286000"/>
            <a:ext cx="1920240" cy="685800"/>
          </a:xfrm>
          <a:prstGeom prst="rect">
            <a:avLst/>
          </a:prstGeom>
          <a:solidFill>
            <a:srgbClr val="E6F3F3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中（削峰）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71800"/>
            <a:ext cx="1828800" cy="685800"/>
          </a:xfrm>
          <a:prstGeom prst="rect">
            <a:avLst/>
          </a:prstGeom>
          <a:solidFill>
            <a:srgbClr val="E6F3F3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B2E"/>
                </a:solidFill>
                <a:latin typeface="Microsoft YaHei"/>
                <a:ea typeface="Microsoft YaHei"/>
              </a:rPr>
              <a:t>拆零无码袋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2971800"/>
            <a:ext cx="1920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2971800"/>
            <a:ext cx="1920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2971800"/>
            <a:ext cx="1920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最高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2971800"/>
            <a:ext cx="1920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75520" y="2971800"/>
            <a:ext cx="1920240" cy="685800"/>
          </a:xfrm>
          <a:prstGeom prst="rect">
            <a:avLst/>
          </a:prstGeom>
          <a:solidFill>
            <a:srgbClr val="E6F3F3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657600"/>
            <a:ext cx="1828800" cy="685800"/>
          </a:xfrm>
          <a:prstGeom prst="rect">
            <a:avLst/>
          </a:prstGeom>
          <a:solidFill>
            <a:srgbClr val="E6F3F3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B2E"/>
                </a:solidFill>
                <a:latin typeface="Microsoft YaHei"/>
                <a:ea typeface="Microsoft YaHei"/>
              </a:rPr>
              <a:t>监管强度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3657600"/>
            <a:ext cx="1920240" cy="685800"/>
          </a:xfrm>
          <a:prstGeom prst="rect">
            <a:avLst/>
          </a:prstGeom>
          <a:solidFill>
            <a:srgbClr val="EEF5F5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3657600"/>
            <a:ext cx="1920240" cy="685800"/>
          </a:xfrm>
          <a:prstGeom prst="rect">
            <a:avLst/>
          </a:prstGeom>
          <a:solidFill>
            <a:srgbClr val="EEF5F5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中高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657600"/>
            <a:ext cx="1920240" cy="685800"/>
          </a:xfrm>
          <a:prstGeom prst="rect">
            <a:avLst/>
          </a:prstGeom>
          <a:solidFill>
            <a:srgbClr val="EEF5F5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最高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0" y="3657600"/>
            <a:ext cx="1920240" cy="685800"/>
          </a:xfrm>
          <a:prstGeom prst="rect">
            <a:avLst/>
          </a:prstGeom>
          <a:solidFill>
            <a:srgbClr val="EEF5F5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75520" y="3657600"/>
            <a:ext cx="1920240" cy="685800"/>
          </a:xfrm>
          <a:prstGeom prst="rect">
            <a:avLst/>
          </a:prstGeom>
          <a:solidFill>
            <a:srgbClr val="E6F3F3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高可配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343400"/>
            <a:ext cx="1828800" cy="685800"/>
          </a:xfrm>
          <a:prstGeom prst="rect">
            <a:avLst/>
          </a:prstGeom>
          <a:solidFill>
            <a:srgbClr val="E6F3F3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B2E"/>
                </a:solidFill>
                <a:latin typeface="Microsoft YaHei"/>
                <a:ea typeface="Microsoft YaHei"/>
              </a:rPr>
              <a:t>设备投入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94560" y="4343400"/>
            <a:ext cx="1920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4343400"/>
            <a:ext cx="1920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4343400"/>
            <a:ext cx="1920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80" y="4343400"/>
            <a:ext cx="19202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75520" y="4343400"/>
            <a:ext cx="1920240" cy="685800"/>
          </a:xfrm>
          <a:prstGeom prst="rect">
            <a:avLst/>
          </a:prstGeom>
          <a:solidFill>
            <a:srgbClr val="E6F3F3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中高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029200"/>
            <a:ext cx="1828800" cy="685800"/>
          </a:xfrm>
          <a:prstGeom prst="rect">
            <a:avLst/>
          </a:prstGeom>
          <a:solidFill>
            <a:srgbClr val="E6F3F3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2B2E"/>
                </a:solidFill>
                <a:latin typeface="Microsoft YaHei"/>
                <a:ea typeface="Microsoft YaHei"/>
              </a:rPr>
              <a:t>落地速度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94560" y="5029200"/>
            <a:ext cx="1920240" cy="685800"/>
          </a:xfrm>
          <a:prstGeom prst="rect">
            <a:avLst/>
          </a:prstGeom>
          <a:solidFill>
            <a:srgbClr val="EEF5F5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快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5029200"/>
            <a:ext cx="1920240" cy="685800"/>
          </a:xfrm>
          <a:prstGeom prst="rect">
            <a:avLst/>
          </a:prstGeom>
          <a:solidFill>
            <a:srgbClr val="EEF5F5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快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5029200"/>
            <a:ext cx="1920240" cy="685800"/>
          </a:xfrm>
          <a:prstGeom prst="rect">
            <a:avLst/>
          </a:prstGeom>
          <a:solidFill>
            <a:srgbClr val="EEF5F5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80" y="5029200"/>
            <a:ext cx="1920240" cy="685800"/>
          </a:xfrm>
          <a:prstGeom prst="rect">
            <a:avLst/>
          </a:prstGeom>
          <a:solidFill>
            <a:srgbClr val="EEF5F5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75520" y="5029200"/>
            <a:ext cx="1920240" cy="685800"/>
          </a:xfrm>
          <a:prstGeom prst="rect">
            <a:avLst/>
          </a:prstGeom>
          <a:solidFill>
            <a:srgbClr val="E6F3F3"/>
          </a:solidFill>
          <a:ln w="9525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1A2B2E"/>
                </a:solidFill>
                <a:latin typeface="Microsoft YaHei"/>
                <a:ea typeface="Microsoft YaHei"/>
              </a:rPr>
              <a:t>可分期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住院药品追溯码采集与上传方案 · 院方讨论稿 · 内部资料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solidFill>
              <a:srgbClr val="F4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45C26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会议建议结论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E8"/>
                </a:solidFill>
                <a:latin typeface="Microsoft YaHei"/>
                <a:ea typeface="Microsoft YaHei"/>
              </a:rPr>
              <a:t>给院领导的一页纸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11247120" cy="128016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建议以「方案5 分级组合」为院内基线方案</a:t>
            </a:r>
          </a:p>
          <a:p>
            <a:pPr>
              <a:spcBef>
                <a:spcPts val="1000"/>
              </a:spcBef>
            </a:pPr>
            <a:r>
              <a:rPr sz="1400" b="0">
                <a:solidFill>
                  <a:srgbClr val="D0EEEE"/>
                </a:solidFill>
                <a:latin typeface="Microsoft YaHei"/>
                <a:ea typeface="Microsoft YaHei"/>
              </a:rPr>
              <a:t>整盒 → 方案2　　拆零 → 方案4　　高值/精麻 → 方案3　　非监管 → 可免扫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2743200" cy="45720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大多数医院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B2E"/>
                </a:solidFill>
                <a:latin typeface="Microsoft YaHei"/>
                <a:ea typeface="Microsoft YaHei"/>
              </a:rPr>
              <a:t>方案5
（2+4+3）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74320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743200"/>
            <a:ext cx="2743200" cy="457200"/>
          </a:xfrm>
          <a:prstGeom prst="rect">
            <a:avLst/>
          </a:prstGeom>
          <a:solidFill>
            <a:srgbClr val="2B6A8F"/>
          </a:solidFill>
          <a:ln>
            <a:solidFill>
              <a:srgbClr val="2B6A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最快合规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3832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B2E"/>
                </a:solidFill>
                <a:latin typeface="Microsoft YaHei"/>
                <a:ea typeface="Microsoft YaHei"/>
              </a:rPr>
              <a:t>先上方案2
整盒切片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74320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743200"/>
            <a:ext cx="2743200" cy="457200"/>
          </a:xfrm>
          <a:prstGeom prst="rect">
            <a:avLst/>
          </a:prstGeom>
          <a:solidFill>
            <a:srgbClr val="2A9D6E"/>
          </a:solidFill>
          <a:ln>
            <a:solidFill>
              <a:srgbClr val="2A9D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已有PDA+瓶贴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3832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B2E"/>
                </a:solidFill>
                <a:latin typeface="Microsoft YaHei"/>
                <a:ea typeface="Microsoft YaHei"/>
              </a:rPr>
              <a:t>优先打满
方案4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743200"/>
            <a:ext cx="27432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E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2743200"/>
            <a:ext cx="2743200" cy="457200"/>
          </a:xfrm>
          <a:prstGeom prst="rect">
            <a:avLst/>
          </a:prstGeom>
          <a:solidFill>
            <a:srgbClr val="C48A1A"/>
          </a:solidFill>
          <a:ln>
            <a:solidFill>
              <a:srgbClr val="C48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飞检极严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38328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2B2E"/>
                </a:solidFill>
                <a:latin typeface="Microsoft YaHei"/>
                <a:ea typeface="Microsoft YaHei"/>
              </a:rPr>
              <a:t>高值加
方案3双扫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33A3A"/>
                </a:solidFill>
                <a:latin typeface="Microsoft YaHei"/>
                <a:ea typeface="Microsoft YaHei"/>
              </a:rPr>
              <a:t>不推荐：全院强制床旁扫盒码（拆零必败）；只扫不绑患者；发药即传医保替代出院统传。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A6F74"/>
                </a:solidFill>
                <a:latin typeface="Microsoft YaHei"/>
                <a:ea typeface="Microsoft YaHei"/>
              </a:rPr>
              <a:t>上传时点建议维持：在院期间码存 HIS，出院结算统一上传——便于退药改码与共用码处理。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住院药品追溯码采集与上传方案 · 院方讨论稿 · 内部资料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solidFill>
              <a:srgbClr val="F4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C45C26"/>
          </a:solidFill>
          <a:ln>
            <a:solidFill>
              <a:srgbClr val="C45C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请院方拍板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0E8E8"/>
                </a:solidFill>
                <a:latin typeface="Microsoft YaHei"/>
                <a:ea typeface="Microsoft YaHei"/>
              </a:rPr>
              <a:t>会议决议清单（可勾选）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36576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188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1. 主路径是否采用方案5分级组合（推荐）？若否，单选哪一方案？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36576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783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2. 监管整盒：是否强制「发 N 盒 = 扫 N 码」？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31720"/>
            <a:ext cx="36576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77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3. 拆零：是否强制「先扫母盒再分袋/打贴」？母盒架是否设立？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26080"/>
            <a:ext cx="36576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971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4. 是否上瓶贴/医嘱单打印门控（无追溯码禁止打印）？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20440"/>
            <a:ext cx="36576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566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5. 退药：有母盒再扫；仅裸药是否允许「带出原码」+双签？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14800"/>
            <a:ext cx="36576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160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6. 出院「应扫未扫」：提醒 还是 阻断结算？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709160"/>
            <a:ext cx="36576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7. 多人共用一码的医保上传计数规则（医保办）？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303520"/>
            <a:ext cx="365760" cy="365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349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B2E"/>
                </a:solidFill>
                <a:latin typeface="Microsoft YaHei"/>
                <a:ea typeface="Microsoft YaHei"/>
              </a:rPr>
              <a:t>8. 抢救/手术室免扫与补录时限（如 24 小时）？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住院药品追溯码采集与上传方案 · 院方讨论稿 · 内部资料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F74"/>
                </a:solidFill>
                <a:latin typeface="Microsoft YaHei"/>
                <a:ea typeface="Microsoft YaHe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7377"/>
          </a:solidFill>
          <a:ln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谢谢 · 请讨论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383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8E6E6"/>
                </a:solidFill>
                <a:latin typeface="Microsoft YaHei"/>
                <a:ea typeface="Microsoft YaHei"/>
              </a:rPr>
              <a:t>文档位置：whale-doc/health/业务方案/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C8E6E6"/>
                </a:solidFill>
                <a:latin typeface="Microsoft YaHei"/>
                <a:ea typeface="Microsoft YaHei"/>
              </a:rPr>
              <a:t>总册 + 方案1～5分册（谁扫/何时扫/怎么扫/利弊）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默认讨论基线：方案5 = 整盒② + 拆零④ + 高值③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